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4" r:id="rId6"/>
    <p:sldId id="275" r:id="rId7"/>
    <p:sldId id="278" r:id="rId8"/>
    <p:sldId id="280" r:id="rId9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63"/>
    <p:restoredTop sz="94610"/>
  </p:normalViewPr>
  <p:slideViewPr>
    <p:cSldViewPr snapToGrid="0" snapToObjects="1" showGuides="1">
      <p:cViewPr varScale="1">
        <p:scale>
          <a:sx n="109" d="100"/>
          <a:sy n="109" d="100"/>
        </p:scale>
        <p:origin x="3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A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1000" y="3228340"/>
            <a:ext cx="5850890" cy="418465"/>
          </a:xfrm>
          <a:prstGeom prst="roundRect">
            <a:avLst>
              <a:gd name="adj" fmla="val 50000"/>
            </a:avLst>
          </a:prstGeom>
          <a:solidFill>
            <a:srgbClr val="93FF73"/>
          </a:solidFill>
        </p:spPr>
      </p:sp>
      <p:pic>
        <p:nvPicPr>
          <p:cNvPr id="3" name="Image 0" descr="https://kimi-img.moonshot.cn/pub/slides/slides_tmpl/image/25-09-04-11:32:47-d2sggnu1bb2p4onbolv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2973" y="1149267"/>
            <a:ext cx="9363047" cy="45039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8915" y="1235700"/>
            <a:ext cx="609536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 err="1">
                <a:solidFill>
                  <a:srgbClr val="0D0D0D"/>
                </a:solidFill>
                <a:latin typeface="SimHei" pitchFamily="49" charset="-122"/>
                <a:ea typeface="SimHei" pitchFamily="49" charset="-122"/>
                <a:cs typeface="Alimama ShuHeiTi" pitchFamily="34" charset="-120"/>
              </a:rPr>
              <a:t>视界伴音</a:t>
            </a:r>
            <a:r>
              <a:rPr lang="en-US" sz="4800" b="1" dirty="0">
                <a:solidFill>
                  <a:srgbClr val="0D0D0D"/>
                </a:solidFill>
                <a:latin typeface="SimHei" pitchFamily="49" charset="-122"/>
                <a:ea typeface="SimHei" pitchFamily="49" charset="-122"/>
                <a:cs typeface="Alimama ShuHeiTi" pitchFamily="34" charset="-120"/>
              </a:rPr>
              <a:t>：</a:t>
            </a:r>
          </a:p>
          <a:p>
            <a:pPr>
              <a:lnSpc>
                <a:spcPct val="100000"/>
              </a:lnSpc>
            </a:pPr>
            <a:r>
              <a:rPr lang="en-US" sz="4800" b="1" dirty="0" err="1">
                <a:solidFill>
                  <a:srgbClr val="0D0D0D"/>
                </a:solidFill>
                <a:latin typeface="SimHei" pitchFamily="49" charset="-122"/>
                <a:ea typeface="SimHei" pitchFamily="49" charset="-122"/>
                <a:cs typeface="Alimama ShuHeiTi" pitchFamily="34" charset="-120"/>
              </a:rPr>
              <a:t>视觉场景感知的上下文音乐推荐</a:t>
            </a:r>
            <a:endParaRPr lang="en-US" sz="2000" dirty="0">
              <a:latin typeface="SimHei" pitchFamily="49" charset="-122"/>
              <a:ea typeface="SimHei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14285" y="3583305"/>
            <a:ext cx="1419225" cy="1419225"/>
          </a:xfrm>
          <a:prstGeom prst="ellipse">
            <a:avLst/>
          </a:prstGeom>
          <a:solidFill>
            <a:srgbClr val="FCEC73"/>
          </a:solidFill>
        </p:spPr>
      </p:sp>
      <p:sp>
        <p:nvSpPr>
          <p:cNvPr id="7" name="Shape 4"/>
          <p:cNvSpPr/>
          <p:nvPr/>
        </p:nvSpPr>
        <p:spPr>
          <a:xfrm>
            <a:off x="1000125" y="635"/>
            <a:ext cx="164465" cy="514477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8" name="Shape 5"/>
          <p:cNvSpPr/>
          <p:nvPr/>
        </p:nvSpPr>
        <p:spPr>
          <a:xfrm>
            <a:off x="3048000" y="5288280"/>
            <a:ext cx="3048635" cy="156972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9" name="Shape 6"/>
          <p:cNvSpPr/>
          <p:nvPr/>
        </p:nvSpPr>
        <p:spPr>
          <a:xfrm>
            <a:off x="0" y="5634355"/>
            <a:ext cx="3048635" cy="122301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10" name="Shape 7"/>
          <p:cNvSpPr/>
          <p:nvPr/>
        </p:nvSpPr>
        <p:spPr>
          <a:xfrm>
            <a:off x="6097270" y="4383405"/>
            <a:ext cx="6094730" cy="247396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11" name="Shape 8"/>
          <p:cNvSpPr/>
          <p:nvPr/>
        </p:nvSpPr>
        <p:spPr>
          <a:xfrm>
            <a:off x="0" y="5628005"/>
            <a:ext cx="12192000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2" name="Shape 9"/>
          <p:cNvSpPr/>
          <p:nvPr/>
        </p:nvSpPr>
        <p:spPr>
          <a:xfrm>
            <a:off x="3048635" y="5145405"/>
            <a:ext cx="9143365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3" name="Shape 10"/>
          <p:cNvSpPr/>
          <p:nvPr/>
        </p:nvSpPr>
        <p:spPr>
          <a:xfrm rot="5400000">
            <a:off x="5464810" y="4934585"/>
            <a:ext cx="1409065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4" name="Shape 11"/>
          <p:cNvSpPr/>
          <p:nvPr/>
        </p:nvSpPr>
        <p:spPr>
          <a:xfrm rot="5400000">
            <a:off x="2265045" y="5928995"/>
            <a:ext cx="1713230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5" name="Shape 12"/>
          <p:cNvSpPr/>
          <p:nvPr/>
        </p:nvSpPr>
        <p:spPr>
          <a:xfrm>
            <a:off x="9509760" y="1137920"/>
            <a:ext cx="1480820" cy="3132455"/>
          </a:xfrm>
          <a:custGeom>
            <a:avLst/>
            <a:gdLst/>
            <a:ahLst/>
            <a:cxnLst/>
            <a:rect l="l" t="t" r="r" b="b"/>
            <a:pathLst>
              <a:path w="1480820" h="3132455">
                <a:moveTo>
                  <a:pt x="870585" y="0"/>
                </a:moveTo>
                <a:lnTo>
                  <a:pt x="1477010" y="0"/>
                </a:lnTo>
                <a:lnTo>
                  <a:pt x="1480820" y="3124835"/>
                </a:lnTo>
                <a:lnTo>
                  <a:pt x="0" y="3132455"/>
                </a:lnTo>
                <a:lnTo>
                  <a:pt x="870585" y="2251075"/>
                </a:lnTo>
                <a:lnTo>
                  <a:pt x="870585" y="0"/>
                </a:lnTo>
                <a:close/>
              </a:path>
            </a:pathLst>
          </a:custGeom>
          <a:solidFill>
            <a:srgbClr val="93FF73"/>
          </a:solidFill>
        </p:spPr>
      </p:sp>
      <p:sp>
        <p:nvSpPr>
          <p:cNvPr id="16" name="Shape 13"/>
          <p:cNvSpPr/>
          <p:nvPr/>
        </p:nvSpPr>
        <p:spPr>
          <a:xfrm>
            <a:off x="10638155" y="3585845"/>
            <a:ext cx="352425" cy="68072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17" name="Shape 14"/>
          <p:cNvSpPr/>
          <p:nvPr/>
        </p:nvSpPr>
        <p:spPr>
          <a:xfrm>
            <a:off x="10638155" y="2922905"/>
            <a:ext cx="352425" cy="68072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18" name="Shape 15"/>
          <p:cNvSpPr/>
          <p:nvPr/>
        </p:nvSpPr>
        <p:spPr>
          <a:xfrm>
            <a:off x="10638155" y="2242185"/>
            <a:ext cx="352425" cy="68072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19" name="Shape 16"/>
          <p:cNvSpPr/>
          <p:nvPr/>
        </p:nvSpPr>
        <p:spPr>
          <a:xfrm>
            <a:off x="10638155" y="1136015"/>
            <a:ext cx="352425" cy="1125855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20" name="Shape 17"/>
          <p:cNvSpPr/>
          <p:nvPr/>
        </p:nvSpPr>
        <p:spPr>
          <a:xfrm>
            <a:off x="6097270" y="4264025"/>
            <a:ext cx="6095365" cy="146050"/>
          </a:xfrm>
          <a:prstGeom prst="rect">
            <a:avLst/>
          </a:prstGeom>
          <a:solidFill>
            <a:srgbClr val="0D0D0D"/>
          </a:solidFill>
        </p:spPr>
      </p:sp>
      <p:pic>
        <p:nvPicPr>
          <p:cNvPr id="21" name="Image 1" descr="https://kimi-img.moonshot.cn/pub/slides/slides_tmpl/image/25-09-04-11:32:47-d2sggnu1bb2p4onbolv0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670" y="1423670"/>
            <a:ext cx="2600325" cy="1971675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9-04-11:32:47-d2sggnu1bb2p4onboltg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50" y="5182870"/>
            <a:ext cx="3030220" cy="548005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9-04-11:32:47-d2sggnu1bb2p4onbolug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370" y="3733800"/>
            <a:ext cx="4178935" cy="54356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9-04-11:32:47-d2sggnu1bb2p4onbolu0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5738495"/>
            <a:ext cx="6398260" cy="10502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3" name="Shape 1"/>
          <p:cNvSpPr/>
          <p:nvPr/>
        </p:nvSpPr>
        <p:spPr>
          <a:xfrm>
            <a:off x="3101340" y="2382520"/>
            <a:ext cx="9074785" cy="2186305"/>
          </a:xfrm>
          <a:prstGeom prst="rect">
            <a:avLst/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76" y="-1807"/>
            <a:ext cx="3045460" cy="6858000"/>
          </a:xfrm>
          <a:prstGeom prst="rect">
            <a:avLst/>
          </a:prstGeom>
          <a:solidFill>
            <a:srgbClr val="36D579"/>
          </a:solidFill>
        </p:spPr>
      </p:sp>
      <p:sp>
        <p:nvSpPr>
          <p:cNvPr id="5" name="Text 3"/>
          <p:cNvSpPr/>
          <p:nvPr/>
        </p:nvSpPr>
        <p:spPr>
          <a:xfrm>
            <a:off x="336550" y="272415"/>
            <a:ext cx="259397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研究背景：传统推荐与场景化需求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5400000" flipV="1">
            <a:off x="-318135" y="3362960"/>
            <a:ext cx="6858635" cy="132080"/>
          </a:xfrm>
          <a:prstGeom prst="rect">
            <a:avLst/>
          </a:prstGeom>
          <a:solidFill>
            <a:srgbClr val="7030A0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94430" y="2823845"/>
            <a:ext cx="1452880" cy="1210310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9998075" y="485140"/>
            <a:ext cx="1452880" cy="1210310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9998075" y="4972927"/>
            <a:ext cx="1452880" cy="1210310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63500">
            <a:solidFill>
              <a:srgbClr val="0D0D0D"/>
            </a:solidFill>
            <a:prstDash val="solid"/>
          </a:ln>
        </p:spPr>
      </p:sp>
      <p:pic>
        <p:nvPicPr>
          <p:cNvPr id="10" name="Image 0" descr="https://kimi-img.moonshot.cn/pub/slides/slides_tmpl/image/25-09-04-11:32:48-d2sggo61bb2p4onbomeg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620" y="3986530"/>
            <a:ext cx="2923540" cy="28714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9-04-11:32:48-d2sggo61bb2p4onbomf0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6065" y="571500"/>
            <a:ext cx="597535" cy="597535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4-11:32:48-d2sggo61bb2p4onbomg0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370" y="3339465"/>
            <a:ext cx="610235" cy="610235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09-04-11:32:48-d2sggo61bb2p4onbomgg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8915" y="5081905"/>
            <a:ext cx="693420" cy="6934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17900" y="273050"/>
            <a:ext cx="442912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传统推荐局限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517900" y="911225"/>
            <a:ext cx="6231890" cy="8915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现有音乐推荐主要依赖用户历史行为数据，通过协同过滤或内容匹配生成推荐列表，但完全忽略了用户当前所处的物理环境与视觉情境，导致推荐结果与实际场景氛围脱节。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467350" y="2628997"/>
            <a:ext cx="442912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场景化音乐需求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467349" y="3161665"/>
            <a:ext cx="6481844" cy="624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不同场景需要匹配不同风格的音乐：登山时需要激昂节奏、咖啡馆需要轻爵士、健身房需要高能量电子乐。情境已成为音乐选择的核心决策要素。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3517900" y="4809490"/>
            <a:ext cx="442912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技术基础成熟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517900" y="5447665"/>
            <a:ext cx="6231890" cy="624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移动设备摄像头普及率超过95%，视觉信息可实时获取。结合CLIP等跨模态预训练模型，为视觉场景理解提供了强大的技术支撑。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3" name="Shape 1"/>
          <p:cNvSpPr/>
          <p:nvPr/>
        </p:nvSpPr>
        <p:spPr>
          <a:xfrm>
            <a:off x="0" y="6223000"/>
            <a:ext cx="12192635" cy="666750"/>
          </a:xfrm>
          <a:prstGeom prst="rect">
            <a:avLst/>
          </a:prstGeom>
          <a:solidFill>
            <a:srgbClr val="FCEC73"/>
          </a:solidFill>
        </p:spPr>
      </p:sp>
      <p:sp>
        <p:nvSpPr>
          <p:cNvPr id="4" name="Shape 2"/>
          <p:cNvSpPr/>
          <p:nvPr/>
        </p:nvSpPr>
        <p:spPr>
          <a:xfrm>
            <a:off x="11209020" y="1912620"/>
            <a:ext cx="390525" cy="90170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5" name="Shape 3"/>
          <p:cNvSpPr/>
          <p:nvPr/>
        </p:nvSpPr>
        <p:spPr>
          <a:xfrm>
            <a:off x="11209020" y="4242435"/>
            <a:ext cx="390525" cy="90170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6" name="Shape 4"/>
          <p:cNvSpPr/>
          <p:nvPr/>
        </p:nvSpPr>
        <p:spPr>
          <a:xfrm>
            <a:off x="3962400" y="789940"/>
            <a:ext cx="7218045" cy="198755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C2DC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62400" y="3120390"/>
            <a:ext cx="7218045" cy="198755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C2DC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0250" y="2063115"/>
            <a:ext cx="3879850" cy="41592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Text 7"/>
          <p:cNvSpPr/>
          <p:nvPr/>
        </p:nvSpPr>
        <p:spPr>
          <a:xfrm>
            <a:off x="935990" y="2635885"/>
            <a:ext cx="3714115" cy="25965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rgbClr val="C2DCFF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问题定义：视觉到音乐的映射任务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0250" y="757555"/>
            <a:ext cx="2019935" cy="1304290"/>
          </a:xfrm>
          <a:prstGeom prst="trapezoid">
            <a:avLst>
              <a:gd name="adj" fmla="val 25000"/>
            </a:avLst>
          </a:prstGeom>
          <a:solidFill>
            <a:srgbClr val="FCEC73"/>
          </a:solidFill>
        </p:spPr>
      </p:sp>
      <p:pic>
        <p:nvPicPr>
          <p:cNvPr id="11" name="Image 0" descr="https://kimi-img.moonshot.cn/pub/slides/slides_tmpl/image/25-09-04-11:32:48-d2sggo61bb2p4onbomag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625" y="1863725"/>
            <a:ext cx="335280" cy="104775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9-04-11:32:48-d2sggo61bb2p4onbomb0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595" y="4207510"/>
            <a:ext cx="335280" cy="104775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9-04-11:32:48-d2sggo61bb2p4onbombg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190" y="5181600"/>
            <a:ext cx="8002905" cy="10414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870" y="2423795"/>
            <a:ext cx="1581785" cy="211455"/>
          </a:xfrm>
          <a:prstGeom prst="rect">
            <a:avLst/>
          </a:prstGeom>
          <a:solidFill>
            <a:srgbClr val="FCEC73"/>
          </a:solidFill>
        </p:spPr>
      </p:sp>
      <p:sp>
        <p:nvSpPr>
          <p:cNvPr id="15" name="Text 10"/>
          <p:cNvSpPr/>
          <p:nvPr/>
        </p:nvSpPr>
        <p:spPr>
          <a:xfrm>
            <a:off x="5196205" y="996315"/>
            <a:ext cx="442912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2E35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输入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196205" y="1424940"/>
            <a:ext cx="5245735" cy="8915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系统接收用户移动设备摄像头实时捕捉的图像数据，包括日出山顶、安静书房、繁忙街道等多种生活场景，作为推荐系统的上下文触发条件。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196205" y="3301365"/>
            <a:ext cx="442912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2E35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输出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196205" y="3808095"/>
            <a:ext cx="5245735" cy="624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 err="1">
                <a:solidFill>
                  <a:srgbClr val="00000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输出排序后的Top-N音乐列表，要求匹配场景氛围、活动类型和情绪特征，实现从视觉语义到音乐特征的智能映射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9229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3" name="Shape 1"/>
          <p:cNvSpPr/>
          <p:nvPr/>
        </p:nvSpPr>
        <p:spPr>
          <a:xfrm>
            <a:off x="0" y="2061210"/>
            <a:ext cx="12192000" cy="4796790"/>
          </a:xfrm>
          <a:prstGeom prst="rect">
            <a:avLst/>
          </a:prstGeom>
          <a:solidFill>
            <a:srgbClr val="FCEC73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4405" y="911225"/>
            <a:ext cx="10591800" cy="5630545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5" name="Shape 3"/>
          <p:cNvSpPr/>
          <p:nvPr/>
        </p:nvSpPr>
        <p:spPr>
          <a:xfrm>
            <a:off x="600075" y="484505"/>
            <a:ext cx="10591800" cy="5840095"/>
          </a:xfrm>
          <a:prstGeom prst="rect">
            <a:avLst/>
          </a:prstGeom>
          <a:solidFill>
            <a:srgbClr val="F2F2F2"/>
          </a:solidFill>
          <a:ln w="635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3347085" y="3288665"/>
            <a:ext cx="0" cy="271272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H="1">
            <a:off x="5904865" y="3288665"/>
            <a:ext cx="0" cy="271272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H="1">
            <a:off x="8425180" y="3288665"/>
            <a:ext cx="0" cy="271272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26745" y="518160"/>
            <a:ext cx="10534650" cy="846455"/>
          </a:xfrm>
          <a:prstGeom prst="rect">
            <a:avLst/>
          </a:prstGeom>
          <a:solidFill>
            <a:srgbClr val="C2DCFF"/>
          </a:solidFill>
        </p:spPr>
      </p:sp>
      <p:sp>
        <p:nvSpPr>
          <p:cNvPr id="10" name="Shape 8"/>
          <p:cNvSpPr/>
          <p:nvPr/>
        </p:nvSpPr>
        <p:spPr>
          <a:xfrm>
            <a:off x="600075" y="1395004"/>
            <a:ext cx="10591800" cy="0"/>
          </a:xfrm>
          <a:prstGeom prst="line">
            <a:avLst/>
          </a:prstGeom>
          <a:noFill/>
          <a:ln w="635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54405" y="593090"/>
            <a:ext cx="965708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3600" b="1" dirty="0"/>
              <a:t>整体架构：从图像到推荐的完整链路</a:t>
            </a:r>
            <a:endParaRPr lang="zh-CN" alt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806305" y="701675"/>
            <a:ext cx="265255" cy="265430"/>
          </a:xfrm>
          <a:prstGeom prst="ellipse">
            <a:avLst/>
          </a:prstGeom>
          <a:solidFill>
            <a:srgbClr val="C8E5B3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4860" y="701675"/>
            <a:ext cx="265255" cy="265430"/>
          </a:xfrm>
          <a:prstGeom prst="ellipse">
            <a:avLst/>
          </a:prstGeom>
          <a:solidFill>
            <a:srgbClr val="6AB2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83415" y="701675"/>
            <a:ext cx="265255" cy="265430"/>
          </a:xfrm>
          <a:prstGeom prst="ellipse">
            <a:avLst/>
          </a:prstGeom>
          <a:solidFill>
            <a:srgbClr val="E83E2F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15" name="Image 0" descr="https://kimi-img.moonshot.cn/pub/slides/slides_tmpl/image/25-09-04-11:32:48-d2sggo61bb2p4onbom3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965" y="1990090"/>
            <a:ext cx="1889760" cy="1515110"/>
          </a:xfrm>
          <a:prstGeom prst="rect">
            <a:avLst/>
          </a:prstGeom>
        </p:spPr>
      </p:pic>
      <p:pic>
        <p:nvPicPr>
          <p:cNvPr id="16" name="Image 1" descr="https://kimi-img.moonshot.cn/pub/slides/slides_tmpl/image/25-09-04-11:32:48-d2sggo61bb2p4onbomo0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5" y="1730375"/>
            <a:ext cx="775970" cy="775970"/>
          </a:xfrm>
          <a:prstGeom prst="rect">
            <a:avLst/>
          </a:prstGeom>
        </p:spPr>
      </p:pic>
      <p:pic>
        <p:nvPicPr>
          <p:cNvPr id="17" name="Image 2" descr="https://kimi-img.moonshot.cn/pub/slides/slides_tmpl/image/25-09-04-11:32:48-d2sggo61bb2p4onbomn0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720" y="1717675"/>
            <a:ext cx="758825" cy="758825"/>
          </a:xfrm>
          <a:prstGeom prst="rect">
            <a:avLst/>
          </a:prstGeom>
        </p:spPr>
      </p:pic>
      <p:pic>
        <p:nvPicPr>
          <p:cNvPr id="18" name="Image 3" descr="https://kimi-img.moonshot.cn/pub/slides/slides_tmpl/image/25-09-04-11:32:48-d2sggo61bb2p4onbomng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1235" y="1717675"/>
            <a:ext cx="758825" cy="75882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9-04-11:32:48-d2sggo61bb2p4onbomp0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7750" y="1717675"/>
            <a:ext cx="758825" cy="7588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9630" y="2517140"/>
            <a:ext cx="223710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b="1" dirty="0" err="1">
                <a:solidFill>
                  <a:srgbClr val="6AB2FF"/>
                </a:solidFill>
                <a:latin typeface="Noto Sans SC" pitchFamily="34" charset="0"/>
                <a:ea typeface="Noto Sans SC" pitchFamily="34" charset="0"/>
              </a:rPr>
              <a:t>视觉场景理解</a:t>
            </a:r>
            <a:endParaRPr lang="en-US" b="1" dirty="0">
              <a:solidFill>
                <a:srgbClr val="6AB2FF"/>
              </a:solidFill>
              <a:latin typeface="Noto Sans SC" pitchFamily="34" charset="0"/>
              <a:ea typeface="Noto Sans SC" pitchFamily="34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835660" y="3166110"/>
            <a:ext cx="223710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基于</a:t>
            </a:r>
            <a:r>
              <a:rPr lang="en-GB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CLIP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编码器解析场景语义，提取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512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维视觉特征向量，识别宁静、活力、夜晚、户外等场景属性。</a:t>
            </a:r>
          </a:p>
        </p:txBody>
      </p:sp>
      <p:sp>
        <p:nvSpPr>
          <p:cNvPr id="22" name="Text 15"/>
          <p:cNvSpPr/>
          <p:nvPr/>
        </p:nvSpPr>
        <p:spPr>
          <a:xfrm>
            <a:off x="3531235" y="2517140"/>
            <a:ext cx="223710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6AB2FF"/>
                </a:solidFill>
                <a:latin typeface="Noto Sans SC" pitchFamily="34" charset="0"/>
                <a:ea typeface="Noto Sans SC" pitchFamily="34" charset="0"/>
              </a:rPr>
              <a:t>音乐特征模块</a:t>
            </a:r>
          </a:p>
        </p:txBody>
      </p:sp>
      <p:sp>
        <p:nvSpPr>
          <p:cNvPr id="23" name="Text 16"/>
          <p:cNvSpPr/>
          <p:nvPr/>
        </p:nvSpPr>
        <p:spPr>
          <a:xfrm>
            <a:off x="3517265" y="3166110"/>
            <a:ext cx="2237105" cy="11889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整合</a:t>
            </a:r>
            <a:r>
              <a:rPr lang="en-GB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Spotify API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与</a:t>
            </a:r>
            <a:r>
              <a:rPr lang="en-GB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MSD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音频特征，构建统一音乐属性，覆盖情绪、能量、节奏等多维度。</a:t>
            </a:r>
          </a:p>
        </p:txBody>
      </p:sp>
      <p:sp>
        <p:nvSpPr>
          <p:cNvPr id="24" name="Text 17"/>
          <p:cNvSpPr/>
          <p:nvPr/>
        </p:nvSpPr>
        <p:spPr>
          <a:xfrm>
            <a:off x="6059170" y="2517140"/>
            <a:ext cx="223710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6AB2FF"/>
                </a:solidFill>
                <a:latin typeface="Noto Sans SC" pitchFamily="34" charset="0"/>
                <a:ea typeface="Noto Sans SC" pitchFamily="34" charset="0"/>
              </a:rPr>
              <a:t>跨模态检索模块</a:t>
            </a:r>
          </a:p>
        </p:txBody>
      </p:sp>
      <p:sp>
        <p:nvSpPr>
          <p:cNvPr id="26" name="Text 19"/>
          <p:cNvSpPr/>
          <p:nvPr/>
        </p:nvSpPr>
        <p:spPr>
          <a:xfrm>
            <a:off x="8620125" y="2517140"/>
            <a:ext cx="223710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6AB2FF"/>
                </a:solidFill>
                <a:latin typeface="Noto Sans SC" pitchFamily="34" charset="0"/>
                <a:ea typeface="Noto Sans SC" pitchFamily="34" charset="0"/>
              </a:rPr>
              <a:t>推荐排序模块</a:t>
            </a:r>
          </a:p>
        </p:txBody>
      </p:sp>
      <p:sp>
        <p:nvSpPr>
          <p:cNvPr id="27" name="Text 20"/>
          <p:cNvSpPr/>
          <p:nvPr/>
        </p:nvSpPr>
        <p:spPr>
          <a:xfrm>
            <a:off x="8606155" y="3166110"/>
            <a:ext cx="2237105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融合场景权重、协同过滤与多样性策略，完成从候选召回至</a:t>
            </a:r>
            <a:r>
              <a:rPr lang="en-GB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Top-10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最终推荐的精排输出。</a:t>
            </a: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DF59F84F-843E-8C8F-B99C-CC255194F3A7}"/>
              </a:ext>
            </a:extLst>
          </p:cNvPr>
          <p:cNvSpPr/>
          <p:nvPr/>
        </p:nvSpPr>
        <p:spPr>
          <a:xfrm>
            <a:off x="6059170" y="3195955"/>
            <a:ext cx="2237105" cy="14690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建立视觉场景和音乐特征的双塔架构，用余弦相似度比较图像和歌曲的匹配程度，通过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FAISS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近似检索实现高效跨模态匹配。</a:t>
            </a:r>
            <a:endParaRPr lang="en-US" altLang="zh-CN" sz="1400" dirty="0">
              <a:solidFill>
                <a:srgbClr val="000000"/>
              </a:solidFill>
              <a:latin typeface="Noto Sans SC" pitchFamily="34" charset="0"/>
              <a:ea typeface="Noto Sans SC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61" y="-17780"/>
            <a:ext cx="12209780" cy="6875780"/>
          </a:xfrm>
          <a:prstGeom prst="rect">
            <a:avLst/>
          </a:prstGeom>
          <a:solidFill>
            <a:srgbClr val="6AB2FF"/>
          </a:solidFill>
        </p:spPr>
      </p:sp>
      <p:sp>
        <p:nvSpPr>
          <p:cNvPr id="4" name="Shape 2"/>
          <p:cNvSpPr/>
          <p:nvPr/>
        </p:nvSpPr>
        <p:spPr>
          <a:xfrm flipV="1">
            <a:off x="4049" y="-45411"/>
            <a:ext cx="12209780" cy="3202305"/>
          </a:xfrm>
          <a:prstGeom prst="rect">
            <a:avLst/>
          </a:prstGeom>
          <a:solidFill>
            <a:srgbClr val="C2DCFF"/>
          </a:solidFill>
        </p:spPr>
      </p:sp>
      <p:sp>
        <p:nvSpPr>
          <p:cNvPr id="5" name="Shape 3"/>
          <p:cNvSpPr/>
          <p:nvPr/>
        </p:nvSpPr>
        <p:spPr>
          <a:xfrm>
            <a:off x="871987" y="3425637"/>
            <a:ext cx="3290179" cy="3271048"/>
          </a:xfrm>
          <a:prstGeom prst="flowChartDocument">
            <a:avLst/>
          </a:prstGeom>
          <a:solidFill>
            <a:srgbClr val="F2F2F2"/>
          </a:solidFill>
          <a:ln w="635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0" y="2858600"/>
            <a:ext cx="12209780" cy="314325"/>
          </a:xfrm>
          <a:prstGeom prst="rect">
            <a:avLst/>
          </a:prstGeom>
          <a:solidFill>
            <a:srgbClr val="78644E"/>
          </a:solidFill>
        </p:spPr>
      </p:sp>
      <p:sp>
        <p:nvSpPr>
          <p:cNvPr id="6" name="Shape 4"/>
          <p:cNvSpPr/>
          <p:nvPr/>
        </p:nvSpPr>
        <p:spPr>
          <a:xfrm>
            <a:off x="4516318" y="3425637"/>
            <a:ext cx="3001725" cy="2552202"/>
          </a:xfrm>
          <a:prstGeom prst="rect">
            <a:avLst/>
          </a:prstGeom>
          <a:solidFill>
            <a:srgbClr val="F2F2F2"/>
          </a:solidFill>
          <a:ln w="635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859575" y="3413842"/>
            <a:ext cx="3290179" cy="3271047"/>
          </a:xfrm>
          <a:prstGeom prst="flowChartDocument">
            <a:avLst/>
          </a:prstGeom>
          <a:solidFill>
            <a:srgbClr val="F2F2F2"/>
          </a:solidFill>
          <a:ln w="635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720000">
            <a:off x="2514258" y="6020564"/>
            <a:ext cx="1305931" cy="550992"/>
          </a:xfrm>
          <a:prstGeom prst="flowChartMagneticDrum">
            <a:avLst/>
          </a:prstGeom>
          <a:solidFill>
            <a:srgbClr val="ED3C38"/>
          </a:solidFill>
          <a:ln w="1016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260000">
            <a:off x="9959872" y="5174185"/>
            <a:ext cx="1205230" cy="1428750"/>
          </a:xfrm>
          <a:prstGeom prst="star4">
            <a:avLst>
              <a:gd name="adj" fmla="val 23744"/>
            </a:avLst>
          </a:prstGeom>
          <a:solidFill>
            <a:srgbClr val="6AB2FF"/>
          </a:solidFill>
          <a:ln w="63500">
            <a:solidFill>
              <a:srgbClr val="000000"/>
            </a:solidFill>
            <a:prstDash val="solid"/>
          </a:ln>
        </p:spPr>
      </p:sp>
      <p:pic>
        <p:nvPicPr>
          <p:cNvPr id="15" name="Image 0" descr="https://kimi-img.moonshot.cn/pub/slides/slides_tmpl/image/25-09-04-11:32:48-d2sggo61bb2p4onboml0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878" y="2749359"/>
            <a:ext cx="601697" cy="988180"/>
          </a:xfrm>
          <a:prstGeom prst="rect">
            <a:avLst/>
          </a:prstGeom>
        </p:spPr>
      </p:pic>
      <p:pic>
        <p:nvPicPr>
          <p:cNvPr id="16" name="Image 1" descr="https://kimi-img.moonshot.cn/pub/slides/slides_tmpl/image/25-09-04-11:32:48-d2sggo61bb2p4onbomlg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079" y="2789452"/>
            <a:ext cx="601697" cy="988180"/>
          </a:xfrm>
          <a:prstGeom prst="rect">
            <a:avLst/>
          </a:prstGeom>
        </p:spPr>
      </p:pic>
      <p:pic>
        <p:nvPicPr>
          <p:cNvPr id="17" name="Image 2" descr="https://kimi-img.moonshot.cn/pub/slides/slides_tmpl/image/25-09-04-11:32:48-d2sggo61bb2p4onbomm0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971" y="2774376"/>
            <a:ext cx="601697" cy="9881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5538" y="3722462"/>
            <a:ext cx="2860008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b="1" dirty="0">
                <a:solidFill>
                  <a:srgbClr val="36D579"/>
                </a:solidFill>
                <a:latin typeface="Noto Sans SC" pitchFamily="34" charset="0"/>
                <a:ea typeface="Noto Sans SC" pitchFamily="34" charset="0"/>
              </a:rPr>
              <a:t>图像数据集：</a:t>
            </a:r>
            <a:r>
              <a:rPr lang="en-GB" altLang="zh-CN" b="1" dirty="0">
                <a:solidFill>
                  <a:srgbClr val="36D579"/>
                </a:solidFill>
                <a:latin typeface="Noto Sans SC" pitchFamily="34" charset="0"/>
                <a:ea typeface="Noto Sans SC" pitchFamily="34" charset="0"/>
              </a:rPr>
              <a:t>Places365</a:t>
            </a:r>
          </a:p>
        </p:txBody>
      </p:sp>
      <p:sp>
        <p:nvSpPr>
          <p:cNvPr id="19" name="Text 14"/>
          <p:cNvSpPr/>
          <p:nvPr/>
        </p:nvSpPr>
        <p:spPr>
          <a:xfrm>
            <a:off x="1070745" y="4269666"/>
            <a:ext cx="2892662" cy="11889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涵盖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365+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场景类别、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180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万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图像，为视觉感知提供丰富的场景语义基础，支持室内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/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室外、自然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/</a:t>
            </a: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城市等多维场景识别。</a:t>
            </a:r>
          </a:p>
        </p:txBody>
      </p:sp>
      <p:sp>
        <p:nvSpPr>
          <p:cNvPr id="20" name="Text 15"/>
          <p:cNvSpPr/>
          <p:nvPr/>
        </p:nvSpPr>
        <p:spPr>
          <a:xfrm>
            <a:off x="4748002" y="3545747"/>
            <a:ext cx="2537252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b="1" dirty="0">
                <a:solidFill>
                  <a:srgbClr val="36D579"/>
                </a:solidFill>
                <a:latin typeface="Noto Sans SC" pitchFamily="34" charset="0"/>
                <a:ea typeface="Noto Sans SC" pitchFamily="34" charset="0"/>
              </a:rPr>
              <a:t>音乐特征库：</a:t>
            </a:r>
            <a:r>
              <a:rPr lang="en-GB" altLang="zh-CN" b="1" dirty="0">
                <a:solidFill>
                  <a:srgbClr val="36D579"/>
                </a:solidFill>
                <a:latin typeface="Noto Sans SC" pitchFamily="34" charset="0"/>
                <a:ea typeface="Noto Sans SC" pitchFamily="34" charset="0"/>
              </a:rPr>
              <a:t>MSD/Spotify API</a:t>
            </a:r>
          </a:p>
        </p:txBody>
      </p:sp>
      <p:sp>
        <p:nvSpPr>
          <p:cNvPr id="21" name="Text 16"/>
          <p:cNvSpPr/>
          <p:nvPr/>
        </p:nvSpPr>
        <p:spPr>
          <a:xfrm>
            <a:off x="4673337" y="4183922"/>
            <a:ext cx="2691912" cy="15136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整合</a:t>
            </a:r>
            <a:r>
              <a:rPr lang="en-GB" altLang="zh-CN" sz="1200" dirty="0">
                <a:solidFill>
                  <a:srgbClr val="000000"/>
                </a:solidFill>
                <a:latin typeface="Noto Sans SC" pitchFamily="34" charset="0"/>
              </a:rPr>
              <a:t>Million Song Dataset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的音频特征以及</a:t>
            </a:r>
            <a:r>
              <a:rPr lang="en-GB" altLang="zh-CN" sz="1200" dirty="0">
                <a:solidFill>
                  <a:srgbClr val="000000"/>
                </a:solidFill>
                <a:latin typeface="Noto Sans SC" pitchFamily="34" charset="0"/>
              </a:rPr>
              <a:t>Spotify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的</a:t>
            </a:r>
            <a:r>
              <a:rPr lang="en-GB" altLang="zh-CN" sz="1200" dirty="0">
                <a:solidFill>
                  <a:srgbClr val="000000"/>
                </a:solidFill>
                <a:latin typeface="Noto Sans SC" pitchFamily="34" charset="0"/>
              </a:rPr>
              <a:t>valence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（</a:t>
            </a:r>
            <a:r>
              <a:rPr lang="zh-CN" altLang="zh-CN" sz="1200" dirty="0">
                <a:solidFill>
                  <a:srgbClr val="000000"/>
                </a:solidFill>
                <a:latin typeface="Noto Sans SC" pitchFamily="34" charset="0"/>
              </a:rPr>
              <a:t>情绪效价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）</a:t>
            </a:r>
            <a:r>
              <a:rPr lang="zh-CN" altLang="en-GB" sz="1200" dirty="0">
                <a:solidFill>
                  <a:srgbClr val="000000"/>
                </a:solidFill>
                <a:latin typeface="Noto Sans SC" pitchFamily="34" charset="0"/>
              </a:rPr>
              <a:t>、</a:t>
            </a:r>
            <a:r>
              <a:rPr lang="en-GB" altLang="zh-CN" sz="1200" dirty="0">
                <a:solidFill>
                  <a:srgbClr val="000000"/>
                </a:solidFill>
                <a:latin typeface="Noto Sans SC" pitchFamily="34" charset="0"/>
              </a:rPr>
              <a:t>energy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（</a:t>
            </a:r>
            <a:r>
              <a:rPr lang="zh-CN" altLang="zh-CN" sz="1200" dirty="0">
                <a:solidFill>
                  <a:srgbClr val="000000"/>
                </a:solidFill>
                <a:latin typeface="Noto Sans SC" pitchFamily="34" charset="0"/>
              </a:rPr>
              <a:t>能量感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）</a:t>
            </a:r>
            <a:r>
              <a:rPr lang="zh-CN" altLang="en-GB" sz="1200" dirty="0">
                <a:solidFill>
                  <a:srgbClr val="000000"/>
                </a:solidFill>
                <a:latin typeface="Noto Sans SC" pitchFamily="34" charset="0"/>
              </a:rPr>
              <a:t>、</a:t>
            </a:r>
            <a:r>
              <a:rPr lang="en-GB" altLang="zh-CN" sz="1200" dirty="0">
                <a:solidFill>
                  <a:srgbClr val="000000"/>
                </a:solidFill>
                <a:latin typeface="Noto Sans SC" pitchFamily="34" charset="0"/>
              </a:rPr>
              <a:t>tempo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（</a:t>
            </a:r>
            <a:r>
              <a:rPr lang="zh-CN" altLang="zh-CN" sz="1200" dirty="0">
                <a:solidFill>
                  <a:srgbClr val="000000"/>
                </a:solidFill>
                <a:latin typeface="Noto Sans SC" pitchFamily="34" charset="0"/>
              </a:rPr>
              <a:t>节奏速度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）</a:t>
            </a:r>
            <a:r>
              <a:rPr lang="zh-CN" altLang="en-GB" sz="1200" dirty="0">
                <a:solidFill>
                  <a:srgbClr val="000000"/>
                </a:solidFill>
                <a:latin typeface="Noto Sans SC" pitchFamily="34" charset="0"/>
              </a:rPr>
              <a:t>、</a:t>
            </a:r>
            <a:r>
              <a:rPr lang="en-GB" altLang="zh-CN" sz="1200" dirty="0" err="1">
                <a:solidFill>
                  <a:srgbClr val="000000"/>
                </a:solidFill>
                <a:latin typeface="Noto Sans SC" pitchFamily="34" charset="0"/>
              </a:rPr>
              <a:t>instrumentalness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（</a:t>
            </a:r>
            <a:r>
              <a:rPr lang="zh-CN" altLang="zh-CN" sz="1200" dirty="0">
                <a:solidFill>
                  <a:srgbClr val="000000"/>
                </a:solidFill>
                <a:latin typeface="Noto Sans SC" pitchFamily="34" charset="0"/>
              </a:rPr>
              <a:t>纯音乐程度</a:t>
            </a:r>
            <a:r>
              <a:rPr lang="zh-CN" altLang="en-US" sz="1200" dirty="0">
                <a:solidFill>
                  <a:srgbClr val="000000"/>
                </a:solidFill>
                <a:latin typeface="Noto Sans SC" pitchFamily="34" charset="0"/>
              </a:rPr>
              <a:t>）等声学属性，构建多维音乐氛围描述体系。</a:t>
            </a:r>
          </a:p>
        </p:txBody>
      </p:sp>
      <p:sp>
        <p:nvSpPr>
          <p:cNvPr id="22" name="Text 17"/>
          <p:cNvSpPr/>
          <p:nvPr/>
        </p:nvSpPr>
        <p:spPr>
          <a:xfrm>
            <a:off x="8145624" y="3561279"/>
            <a:ext cx="2143760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b="1" dirty="0">
                <a:solidFill>
                  <a:srgbClr val="36D579"/>
                </a:solidFill>
                <a:latin typeface="Noto Sans SC" pitchFamily="34" charset="0"/>
                <a:ea typeface="Noto Sans SC" pitchFamily="34" charset="0"/>
              </a:rPr>
              <a:t>辅助标注数据</a:t>
            </a:r>
          </a:p>
        </p:txBody>
      </p:sp>
      <p:sp>
        <p:nvSpPr>
          <p:cNvPr id="23" name="Text 18"/>
          <p:cNvSpPr/>
          <p:nvPr/>
        </p:nvSpPr>
        <p:spPr>
          <a:xfrm>
            <a:off x="8064034" y="4152182"/>
            <a:ext cx="2796109" cy="908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0"/>
              </a:rPr>
              <a:t>构建场景与音乐的匹配对，建立跨模态监督信号，用于模型微调与效果评估。</a:t>
            </a:r>
          </a:p>
        </p:txBody>
      </p:sp>
      <p:sp>
        <p:nvSpPr>
          <p:cNvPr id="50" name="Shape 3"/>
          <p:cNvSpPr/>
          <p:nvPr/>
        </p:nvSpPr>
        <p:spPr>
          <a:xfrm>
            <a:off x="1288474" y="250963"/>
            <a:ext cx="9681640" cy="2040429"/>
          </a:xfrm>
          <a:prstGeom prst="rect">
            <a:avLst/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pic>
        <p:nvPicPr>
          <p:cNvPr id="51" name="Image 1" descr="https://kimi-img.moonshot.cn/pub/slides/slides_tmpl/image/25-09-04-11:32:48-d2sggo61bb2p4onbom4g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3868" y="1409653"/>
            <a:ext cx="1066800" cy="1047750"/>
          </a:xfrm>
          <a:prstGeom prst="rect">
            <a:avLst/>
          </a:prstGeom>
        </p:spPr>
      </p:pic>
      <p:pic>
        <p:nvPicPr>
          <p:cNvPr id="52" name="Image 0" descr="https://kimi-img.moonshot.cn/pub/slides/slides_tmpl/image/25-09-04-11:32:48-d2sggo61bb2p4onbom3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7931" y="1191590"/>
            <a:ext cx="1851190" cy="1483877"/>
          </a:xfrm>
          <a:prstGeom prst="rect">
            <a:avLst/>
          </a:prstGeom>
        </p:spPr>
      </p:pic>
      <p:sp>
        <p:nvSpPr>
          <p:cNvPr id="53" name="Shape 11"/>
          <p:cNvSpPr/>
          <p:nvPr/>
        </p:nvSpPr>
        <p:spPr>
          <a:xfrm>
            <a:off x="1633378" y="464879"/>
            <a:ext cx="265255" cy="265430"/>
          </a:xfrm>
          <a:prstGeom prst="ellipse">
            <a:avLst/>
          </a:prstGeom>
          <a:solidFill>
            <a:srgbClr val="C8E5B3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4" name="Shape 12"/>
          <p:cNvSpPr/>
          <p:nvPr/>
        </p:nvSpPr>
        <p:spPr>
          <a:xfrm>
            <a:off x="2071933" y="464879"/>
            <a:ext cx="265255" cy="265430"/>
          </a:xfrm>
          <a:prstGeom prst="ellipse">
            <a:avLst/>
          </a:prstGeom>
          <a:solidFill>
            <a:srgbClr val="6AB2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5" name="Shape 13"/>
          <p:cNvSpPr/>
          <p:nvPr/>
        </p:nvSpPr>
        <p:spPr>
          <a:xfrm>
            <a:off x="2510488" y="464879"/>
            <a:ext cx="265255" cy="265430"/>
          </a:xfrm>
          <a:prstGeom prst="ellipse">
            <a:avLst/>
          </a:prstGeom>
          <a:solidFill>
            <a:srgbClr val="E83E2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6" name="Text 18"/>
          <p:cNvSpPr/>
          <p:nvPr/>
        </p:nvSpPr>
        <p:spPr>
          <a:xfrm>
            <a:off x="3863199" y="945452"/>
            <a:ext cx="5757357" cy="15709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sz="3600" b="1" dirty="0"/>
              <a:t>数据源</a:t>
            </a:r>
            <a:r>
              <a:rPr lang="en-US" altLang="zh-CN" sz="3600" b="1" dirty="0"/>
              <a:t>/</a:t>
            </a:r>
            <a:r>
              <a:rPr lang="zh-CN" altLang="en-US" sz="3600" b="1" dirty="0"/>
              <a:t>数据获取</a:t>
            </a:r>
            <a:endParaRPr lang="zh-CN" altLang="en-US" sz="3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D579"/>
          </a:solidFill>
        </p:spPr>
      </p:sp>
      <p:sp>
        <p:nvSpPr>
          <p:cNvPr id="3" name="Shape 1"/>
          <p:cNvSpPr/>
          <p:nvPr/>
        </p:nvSpPr>
        <p:spPr>
          <a:xfrm>
            <a:off x="-132715" y="3414395"/>
            <a:ext cx="12353290" cy="3495675"/>
          </a:xfrm>
          <a:custGeom>
            <a:avLst/>
            <a:gdLst/>
            <a:ahLst/>
            <a:cxnLst/>
            <a:rect l="l" t="t" r="r" b="b"/>
            <a:pathLst>
              <a:path w="12353290" h="3495675">
                <a:moveTo>
                  <a:pt x="0" y="0"/>
                </a:moveTo>
                <a:lnTo>
                  <a:pt x="2713990" y="0"/>
                </a:lnTo>
                <a:lnTo>
                  <a:pt x="4199890" y="1047750"/>
                </a:lnTo>
                <a:lnTo>
                  <a:pt x="4561840" y="1133475"/>
                </a:lnTo>
                <a:lnTo>
                  <a:pt x="7943215" y="1133475"/>
                </a:lnTo>
                <a:lnTo>
                  <a:pt x="7943215" y="476250"/>
                </a:lnTo>
                <a:lnTo>
                  <a:pt x="12353290" y="476250"/>
                </a:lnTo>
                <a:lnTo>
                  <a:pt x="12353290" y="3495675"/>
                </a:lnTo>
                <a:lnTo>
                  <a:pt x="66675" y="3495675"/>
                </a:lnTo>
                <a:lnTo>
                  <a:pt x="0" y="0"/>
                </a:lnTo>
                <a:close/>
              </a:path>
            </a:pathLst>
          </a:custGeom>
          <a:solidFill>
            <a:srgbClr val="C2DCFF"/>
          </a:solidFill>
        </p:spPr>
      </p:sp>
      <p:sp>
        <p:nvSpPr>
          <p:cNvPr id="4" name="Shape 2"/>
          <p:cNvSpPr/>
          <p:nvPr/>
        </p:nvSpPr>
        <p:spPr>
          <a:xfrm>
            <a:off x="4111625" y="745490"/>
            <a:ext cx="7505700" cy="16757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1625" y="2618740"/>
            <a:ext cx="7505700" cy="16757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1625" y="4491990"/>
            <a:ext cx="7505700" cy="16757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5030" y="817880"/>
            <a:ext cx="1716405" cy="1656080"/>
          </a:xfrm>
          <a:custGeom>
            <a:avLst/>
            <a:gdLst/>
            <a:ahLst/>
            <a:cxnLst/>
            <a:rect l="l" t="t" r="r" b="b"/>
            <a:pathLst>
              <a:path w="1716405" h="1656080">
                <a:moveTo>
                  <a:pt x="177165" y="461010"/>
                </a:moveTo>
                <a:lnTo>
                  <a:pt x="71120" y="617855"/>
                </a:lnTo>
                <a:lnTo>
                  <a:pt x="0" y="891540"/>
                </a:lnTo>
                <a:lnTo>
                  <a:pt x="66040" y="1134745"/>
                </a:lnTo>
                <a:lnTo>
                  <a:pt x="142240" y="1245870"/>
                </a:lnTo>
                <a:lnTo>
                  <a:pt x="1716405" y="1656080"/>
                </a:lnTo>
                <a:lnTo>
                  <a:pt x="1524000" y="1256030"/>
                </a:lnTo>
                <a:lnTo>
                  <a:pt x="1488440" y="845820"/>
                </a:lnTo>
                <a:lnTo>
                  <a:pt x="1529080" y="435610"/>
                </a:lnTo>
                <a:lnTo>
                  <a:pt x="1685925" y="0"/>
                </a:lnTo>
                <a:lnTo>
                  <a:pt x="177165" y="46101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2385695" y="817245"/>
            <a:ext cx="685800" cy="1713230"/>
          </a:xfrm>
          <a:prstGeom prst="ellipse">
            <a:avLst/>
          </a:prstGeom>
          <a:solidFill>
            <a:srgbClr val="C2DCFF"/>
          </a:solidFill>
        </p:spPr>
      </p:sp>
      <p:sp>
        <p:nvSpPr>
          <p:cNvPr id="9" name="Shape 7"/>
          <p:cNvSpPr/>
          <p:nvPr/>
        </p:nvSpPr>
        <p:spPr>
          <a:xfrm>
            <a:off x="2336800" y="1329690"/>
            <a:ext cx="392430" cy="673100"/>
          </a:xfrm>
          <a:prstGeom prst="ellipse">
            <a:avLst/>
          </a:prstGeom>
          <a:solidFill>
            <a:srgbClr val="C00000"/>
          </a:solidFill>
        </p:spPr>
      </p:sp>
      <p:pic>
        <p:nvPicPr>
          <p:cNvPr id="10" name="Image 0" descr="https://kimi-img.moonshot.cn/pub/slides/slides_tmpl/image/25-09-04-11:32:48-d2sggo61bb2p4onbom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35" y="180340"/>
            <a:ext cx="3261360" cy="3261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3400" y="3888105"/>
            <a:ext cx="3021330" cy="227965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zh-CN" altLang="en-US" sz="4800" b="1" dirty="0"/>
              <a:t>预期效果与创新点</a:t>
            </a:r>
            <a:endParaRPr lang="zh-CN" alt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661670" y="3665855"/>
            <a:ext cx="1581785" cy="221615"/>
          </a:xfrm>
          <a:prstGeom prst="rect">
            <a:avLst/>
          </a:prstGeom>
          <a:solidFill>
            <a:srgbClr val="78644E"/>
          </a:solidFill>
        </p:spPr>
      </p:sp>
      <p:sp>
        <p:nvSpPr>
          <p:cNvPr id="13" name="Text 10"/>
          <p:cNvSpPr/>
          <p:nvPr/>
        </p:nvSpPr>
        <p:spPr>
          <a:xfrm>
            <a:off x="4520565" y="879475"/>
            <a:ext cx="4892040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b="1" dirty="0"/>
              <a:t>预期应用效果</a:t>
            </a:r>
            <a:endParaRPr lang="zh-CN" altLang="en-US" dirty="0"/>
          </a:p>
        </p:txBody>
      </p:sp>
      <p:sp>
        <p:nvSpPr>
          <p:cNvPr id="14" name="Text 11"/>
          <p:cNvSpPr/>
          <p:nvPr/>
        </p:nvSpPr>
        <p:spPr>
          <a:xfrm>
            <a:off x="4533265" y="1336040"/>
            <a:ext cx="681101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/>
              <a:t>基于当前场景图像，系统可自动推荐契合氛围的背景音乐，实现真正的情境感知智能服务，提升音乐推荐的场景适配度。</a:t>
            </a:r>
          </a:p>
        </p:txBody>
      </p:sp>
      <p:sp>
        <p:nvSpPr>
          <p:cNvPr id="15" name="Text 12"/>
          <p:cNvSpPr/>
          <p:nvPr/>
        </p:nvSpPr>
        <p:spPr>
          <a:xfrm>
            <a:off x="4520565" y="2752725"/>
            <a:ext cx="4892040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b="1" dirty="0"/>
              <a:t>核心创新点</a:t>
            </a:r>
            <a:endParaRPr lang="zh-CN" altLang="en-US" dirty="0"/>
          </a:p>
        </p:txBody>
      </p:sp>
      <p:sp>
        <p:nvSpPr>
          <p:cNvPr id="16" name="Text 13"/>
          <p:cNvSpPr/>
          <p:nvPr/>
        </p:nvSpPr>
        <p:spPr>
          <a:xfrm>
            <a:off x="4533265" y="3209290"/>
            <a:ext cx="681101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/>
              <a:t>情境感知推荐：突破传统用户画像推荐，开创场景驱动新模式；</a:t>
            </a:r>
          </a:p>
          <a:p>
            <a:r>
              <a:rPr lang="zh-CN" altLang="en-US" dirty="0"/>
              <a:t>视觉</a:t>
            </a:r>
            <a:r>
              <a:rPr lang="en-US" altLang="zh-CN" dirty="0"/>
              <a:t>-</a:t>
            </a:r>
            <a:r>
              <a:rPr lang="zh-CN" altLang="en-US" dirty="0"/>
              <a:t>音乐跨模态匹配：实现不同类型数据的深度语义对齐。</a:t>
            </a:r>
          </a:p>
        </p:txBody>
      </p:sp>
      <p:sp>
        <p:nvSpPr>
          <p:cNvPr id="17" name="Text 14"/>
          <p:cNvSpPr/>
          <p:nvPr/>
        </p:nvSpPr>
        <p:spPr>
          <a:xfrm>
            <a:off x="4520565" y="4649421"/>
            <a:ext cx="4892040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r>
              <a:rPr lang="zh-CN" altLang="en-US" b="1" dirty="0"/>
              <a:t>优势</a:t>
            </a:r>
            <a:endParaRPr lang="zh-CN" altLang="en-US" dirty="0"/>
          </a:p>
        </p:txBody>
      </p:sp>
      <p:sp>
        <p:nvSpPr>
          <p:cNvPr id="18" name="Text 15"/>
          <p:cNvSpPr/>
          <p:nvPr/>
        </p:nvSpPr>
        <p:spPr>
          <a:xfrm>
            <a:off x="4533265" y="5082540"/>
            <a:ext cx="6811010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/>
              <a:t>系统架构轻量化，</a:t>
            </a:r>
            <a:r>
              <a:rPr lang="en-GB" altLang="zh-CN" dirty="0"/>
              <a:t>CLIP</a:t>
            </a:r>
            <a:r>
              <a:rPr lang="zh-CN" altLang="en-US" dirty="0"/>
              <a:t>与</a:t>
            </a:r>
            <a:r>
              <a:rPr lang="en-GB" altLang="zh-CN" dirty="0"/>
              <a:t>FAISS</a:t>
            </a:r>
            <a:r>
              <a:rPr lang="zh-CN" altLang="en-US" dirty="0"/>
              <a:t>均支持移动端部署，具备实时推荐能力，使智能音乐应用成为现实。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</p:spPr>
      </p:sp>
      <p:sp>
        <p:nvSpPr>
          <p:cNvPr id="3" name="Shape 1"/>
          <p:cNvSpPr/>
          <p:nvPr/>
        </p:nvSpPr>
        <p:spPr>
          <a:xfrm>
            <a:off x="0" y="14605"/>
            <a:ext cx="12191365" cy="1194435"/>
          </a:xfrm>
          <a:prstGeom prst="rect">
            <a:avLst/>
          </a:prstGeom>
          <a:solidFill>
            <a:srgbClr val="FCEC73"/>
          </a:solidFill>
        </p:spPr>
      </p:sp>
      <p:sp>
        <p:nvSpPr>
          <p:cNvPr id="4" name="Text 2"/>
          <p:cNvSpPr/>
          <p:nvPr/>
        </p:nvSpPr>
        <p:spPr>
          <a:xfrm>
            <a:off x="321310" y="271145"/>
            <a:ext cx="8622665" cy="6946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7030A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讨论与未来工作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10800000">
            <a:off x="11025505" y="1758950"/>
            <a:ext cx="668020" cy="2456180"/>
          </a:xfrm>
          <a:custGeom>
            <a:avLst/>
            <a:gdLst/>
            <a:ahLst/>
            <a:cxnLst/>
            <a:rect l="l" t="t" r="r" b="b"/>
            <a:pathLst>
              <a:path w="668020" h="2456180">
                <a:moveTo>
                  <a:pt x="334272" y="0"/>
                </a:moveTo>
                <a:lnTo>
                  <a:pt x="668020" y="982255"/>
                </a:lnTo>
                <a:lnTo>
                  <a:pt x="417578" y="982255"/>
                </a:lnTo>
                <a:lnTo>
                  <a:pt x="668020" y="1719217"/>
                </a:lnTo>
                <a:lnTo>
                  <a:pt x="417578" y="1719217"/>
                </a:lnTo>
                <a:lnTo>
                  <a:pt x="668020" y="2456180"/>
                </a:lnTo>
                <a:lnTo>
                  <a:pt x="0" y="2456180"/>
                </a:lnTo>
                <a:lnTo>
                  <a:pt x="250442" y="1719217"/>
                </a:lnTo>
                <a:lnTo>
                  <a:pt x="0" y="1719217"/>
                </a:lnTo>
                <a:lnTo>
                  <a:pt x="250442" y="982255"/>
                </a:lnTo>
                <a:lnTo>
                  <a:pt x="0" y="982255"/>
                </a:lnTo>
                <a:lnTo>
                  <a:pt x="334272" y="0"/>
                </a:lnTo>
                <a:close/>
              </a:path>
            </a:pathLst>
          </a:custGeom>
          <a:solidFill>
            <a:srgbClr val="FCEC73"/>
          </a:solidFill>
          <a:ln w="10160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4025" y="2903220"/>
            <a:ext cx="3483610" cy="3533140"/>
          </a:xfrm>
          <a:prstGeom prst="rect">
            <a:avLst/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73220" y="1740535"/>
            <a:ext cx="6499860" cy="2218055"/>
          </a:xfrm>
          <a:prstGeom prst="rect">
            <a:avLst/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375" y="1729105"/>
            <a:ext cx="901700" cy="901700"/>
          </a:xfrm>
          <a:prstGeom prst="rect">
            <a:avLst/>
          </a:prstGeom>
          <a:solidFill>
            <a:srgbClr val="C2DC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1810" y="1719580"/>
            <a:ext cx="901700" cy="901700"/>
          </a:xfrm>
          <a:prstGeom prst="rect">
            <a:avLst/>
          </a:prstGeom>
          <a:solidFill>
            <a:srgbClr val="C2DCFF"/>
          </a:solidFill>
          <a:ln w="63500">
            <a:solidFill>
              <a:srgbClr val="0D0D0D"/>
            </a:solidFill>
            <a:prstDash val="solid"/>
          </a:ln>
        </p:spPr>
      </p:sp>
      <p:pic>
        <p:nvPicPr>
          <p:cNvPr id="10" name="Image 0" descr="https://kimi-img.moonshot.cn/pub/slides/slides_tmpl/image/25-09-04-11:32:48-d2sggo61bb2p4onbomh0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1682115"/>
            <a:ext cx="638175" cy="104775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9-04-11:32:48-d2sggo61bb2p4onbomi0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605" y="1677670"/>
            <a:ext cx="638175" cy="1047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53510" y="1687195"/>
            <a:ext cx="222885" cy="33147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3" name="Shape 9"/>
          <p:cNvSpPr/>
          <p:nvPr/>
        </p:nvSpPr>
        <p:spPr>
          <a:xfrm rot="5400000">
            <a:off x="466725" y="2590165"/>
            <a:ext cx="264795" cy="346075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4" name="Shape 10"/>
          <p:cNvSpPr/>
          <p:nvPr/>
        </p:nvSpPr>
        <p:spPr>
          <a:xfrm>
            <a:off x="4174490" y="4210685"/>
            <a:ext cx="6502400" cy="2228215"/>
          </a:xfrm>
          <a:prstGeom prst="rect">
            <a:avLst/>
          </a:prstGeom>
          <a:solidFill>
            <a:srgbClr val="FFFF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894060" y="5554345"/>
            <a:ext cx="901700" cy="901700"/>
          </a:xfrm>
          <a:prstGeom prst="rect">
            <a:avLst/>
          </a:prstGeom>
          <a:solidFill>
            <a:srgbClr val="C2DCFF"/>
          </a:solidFill>
          <a:ln w="63500">
            <a:solidFill>
              <a:srgbClr val="0D0D0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684510" y="6156325"/>
            <a:ext cx="222885" cy="331470"/>
          </a:xfrm>
          <a:prstGeom prst="rect">
            <a:avLst/>
          </a:prstGeom>
          <a:solidFill>
            <a:srgbClr val="0D0D0D"/>
          </a:solidFill>
        </p:spPr>
      </p:sp>
      <p:pic>
        <p:nvPicPr>
          <p:cNvPr id="17" name="Image 2" descr="https://kimi-img.moonshot.cn/pub/slides/slides_tmpl/image/25-09-04-11:32:48-d2sggo61bb2p4onbomhg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5505" y="5488305"/>
            <a:ext cx="638175" cy="10477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 flipV="1">
            <a:off x="0" y="1133475"/>
            <a:ext cx="12191365" cy="762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4065" y="3005455"/>
            <a:ext cx="2974975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7030A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当前局限性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74065" y="3923665"/>
            <a:ext cx="279273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 err="1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光照条件影响图像识别准确性</a:t>
            </a:r>
            <a:r>
              <a:rPr lang="zh-CN" alt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；</a:t>
            </a:r>
            <a:endParaRPr lang="en-US" altLang="zh-CN" sz="1400" dirty="0">
              <a:solidFill>
                <a:srgbClr val="0D0D0D"/>
              </a:solidFill>
              <a:latin typeface="Noto Sans SC" pitchFamily="34" charset="0"/>
              <a:ea typeface="Noto Sans SC" pitchFamily="34" charset="0"/>
              <a:cs typeface="Noto Sans SC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en-US" sz="1400" dirty="0" err="1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场景类别覆盖有限</a:t>
            </a:r>
            <a:r>
              <a:rPr lang="zh-CN" alt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。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629150" y="1943735"/>
            <a:ext cx="5350510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030A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技术扩展方向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634865" y="2445385"/>
            <a:ext cx="5563235" cy="908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 err="1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支持视频流实时推荐</a:t>
            </a:r>
            <a:r>
              <a:rPr 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，</a:t>
            </a:r>
            <a:r>
              <a:rPr lang="zh-CN" altLang="zh-CN" sz="14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</a:rPr>
              <a:t>随画面变化动态更新推荐歌单</a:t>
            </a:r>
            <a:r>
              <a:rPr lang="zh-CN" altLang="en-US" sz="14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</a:rPr>
              <a:t>；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拓展至200+场景，全面覆盖日常生活</a:t>
            </a:r>
            <a:r>
              <a:rPr lang="zh-CN" alt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；</a:t>
            </a:r>
            <a:endParaRPr lang="en-US" altLang="zh-CN" sz="1400" dirty="0">
              <a:solidFill>
                <a:srgbClr val="0D0D0D"/>
              </a:solidFill>
              <a:latin typeface="Noto Sans SC" pitchFamily="34" charset="0"/>
              <a:ea typeface="Noto Sans SC" pitchFamily="34" charset="0"/>
              <a:cs typeface="Noto Sans SC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en-US" sz="1400" dirty="0" err="1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引入时序建</a:t>
            </a:r>
            <a:r>
              <a:rPr lang="zh-CN" alt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，</a:t>
            </a:r>
            <a:r>
              <a:rPr lang="en-US" sz="1400" dirty="0" err="1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模捕捉场景动态变化</a:t>
            </a:r>
            <a:r>
              <a:rPr lang="zh-CN" alt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，</a:t>
            </a:r>
            <a:r>
              <a:rPr lang="zh-CN" altLang="zh-CN" sz="14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</a:rPr>
              <a:t>分析连续多帧画面的变化过程</a:t>
            </a:r>
            <a:r>
              <a:rPr lang="zh-CN" altLang="en-US" sz="14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</a:rPr>
              <a:t>。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648835" y="4430395"/>
            <a:ext cx="5350510" cy="63817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030A0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应用拓展前景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634865" y="4989195"/>
            <a:ext cx="5567045" cy="624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适配智能眼镜等可穿戴设备，结合位置信息实现多模态上下文感知，探索车载、智能家居等场景应用。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A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"/>
            <a:ext cx="12192000" cy="6858000"/>
          </a:xfrm>
          <a:prstGeom prst="rect">
            <a:avLst/>
          </a:prstGeom>
          <a:solidFill>
            <a:srgbClr val="99A4E9"/>
          </a:solidFill>
        </p:spPr>
      </p:sp>
      <p:sp>
        <p:nvSpPr>
          <p:cNvPr id="3" name="Shape 1"/>
          <p:cNvSpPr/>
          <p:nvPr/>
        </p:nvSpPr>
        <p:spPr>
          <a:xfrm>
            <a:off x="1000125" y="1136650"/>
            <a:ext cx="9939655" cy="4497705"/>
          </a:xfrm>
          <a:prstGeom prst="snip2DiagRect">
            <a:avLst>
              <a:gd name="adj1" fmla="val 50000"/>
              <a:gd name="adj2" fmla="val 0"/>
            </a:avLst>
          </a:prstGeom>
          <a:solidFill>
            <a:srgbClr val="36D579"/>
          </a:solidFill>
        </p:spPr>
      </p:sp>
      <p:sp>
        <p:nvSpPr>
          <p:cNvPr id="4" name="Text 2"/>
          <p:cNvSpPr/>
          <p:nvPr/>
        </p:nvSpPr>
        <p:spPr>
          <a:xfrm>
            <a:off x="3048000" y="2080260"/>
            <a:ext cx="6096000" cy="2110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THANK YOU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D0D0D"/>
                </a:solidFill>
                <a:latin typeface="Noto Sans SC" pitchFamily="34" charset="0"/>
                <a:ea typeface="Noto Sans SC" pitchFamily="34" charset="0"/>
                <a:cs typeface="Noto Sans SC" pitchFamily="34" charset="0"/>
              </a:rPr>
              <a:t>感谢您的观看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835" y="595630"/>
            <a:ext cx="1419225" cy="1419225"/>
          </a:xfrm>
          <a:prstGeom prst="ellipse">
            <a:avLst/>
          </a:prstGeom>
          <a:solidFill>
            <a:srgbClr val="FCEC73"/>
          </a:solidFill>
        </p:spPr>
      </p:sp>
      <p:sp>
        <p:nvSpPr>
          <p:cNvPr id="6" name="Shape 4"/>
          <p:cNvSpPr/>
          <p:nvPr/>
        </p:nvSpPr>
        <p:spPr>
          <a:xfrm>
            <a:off x="3048000" y="5288280"/>
            <a:ext cx="3048635" cy="156972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7" name="Shape 5"/>
          <p:cNvSpPr/>
          <p:nvPr/>
        </p:nvSpPr>
        <p:spPr>
          <a:xfrm>
            <a:off x="0" y="5634355"/>
            <a:ext cx="3048635" cy="122301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8" name="Shape 6"/>
          <p:cNvSpPr/>
          <p:nvPr/>
        </p:nvSpPr>
        <p:spPr>
          <a:xfrm>
            <a:off x="6097270" y="4383405"/>
            <a:ext cx="6094730" cy="2473960"/>
          </a:xfrm>
          <a:prstGeom prst="rect">
            <a:avLst/>
          </a:prstGeom>
          <a:solidFill>
            <a:srgbClr val="7030A0"/>
          </a:solidFill>
        </p:spPr>
      </p:sp>
      <p:sp>
        <p:nvSpPr>
          <p:cNvPr id="9" name="Shape 7"/>
          <p:cNvSpPr/>
          <p:nvPr/>
        </p:nvSpPr>
        <p:spPr>
          <a:xfrm>
            <a:off x="0" y="5628005"/>
            <a:ext cx="12192000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0" name="Shape 8"/>
          <p:cNvSpPr/>
          <p:nvPr/>
        </p:nvSpPr>
        <p:spPr>
          <a:xfrm>
            <a:off x="3048635" y="5145405"/>
            <a:ext cx="9143365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1" name="Shape 9"/>
          <p:cNvSpPr/>
          <p:nvPr/>
        </p:nvSpPr>
        <p:spPr>
          <a:xfrm rot="5400000">
            <a:off x="5464810" y="4934585"/>
            <a:ext cx="1409065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2" name="Shape 10"/>
          <p:cNvSpPr/>
          <p:nvPr/>
        </p:nvSpPr>
        <p:spPr>
          <a:xfrm rot="5400000">
            <a:off x="2265045" y="5928995"/>
            <a:ext cx="1713230" cy="14605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3" name="Shape 11"/>
          <p:cNvSpPr/>
          <p:nvPr/>
        </p:nvSpPr>
        <p:spPr>
          <a:xfrm>
            <a:off x="10053320" y="1137920"/>
            <a:ext cx="1480820" cy="3132455"/>
          </a:xfrm>
          <a:custGeom>
            <a:avLst/>
            <a:gdLst/>
            <a:ahLst/>
            <a:cxnLst/>
            <a:rect l="l" t="t" r="r" b="b"/>
            <a:pathLst>
              <a:path w="1480820" h="3132455">
                <a:moveTo>
                  <a:pt x="870585" y="0"/>
                </a:moveTo>
                <a:lnTo>
                  <a:pt x="1477010" y="0"/>
                </a:lnTo>
                <a:lnTo>
                  <a:pt x="1480820" y="3124835"/>
                </a:lnTo>
                <a:lnTo>
                  <a:pt x="0" y="3132455"/>
                </a:lnTo>
                <a:lnTo>
                  <a:pt x="870585" y="2251075"/>
                </a:lnTo>
                <a:lnTo>
                  <a:pt x="870585" y="0"/>
                </a:lnTo>
                <a:close/>
              </a:path>
            </a:pathLst>
          </a:custGeom>
          <a:solidFill>
            <a:srgbClr val="93FF73"/>
          </a:solidFill>
        </p:spPr>
      </p:sp>
      <p:sp>
        <p:nvSpPr>
          <p:cNvPr id="14" name="Shape 12"/>
          <p:cNvSpPr/>
          <p:nvPr/>
        </p:nvSpPr>
        <p:spPr>
          <a:xfrm>
            <a:off x="11181715" y="3585845"/>
            <a:ext cx="352425" cy="68072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15" name="Shape 13"/>
          <p:cNvSpPr/>
          <p:nvPr/>
        </p:nvSpPr>
        <p:spPr>
          <a:xfrm>
            <a:off x="11181715" y="2922905"/>
            <a:ext cx="352425" cy="68072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16" name="Shape 14"/>
          <p:cNvSpPr/>
          <p:nvPr/>
        </p:nvSpPr>
        <p:spPr>
          <a:xfrm>
            <a:off x="11181715" y="2242185"/>
            <a:ext cx="352425" cy="68072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17" name="Shape 15"/>
          <p:cNvSpPr/>
          <p:nvPr/>
        </p:nvSpPr>
        <p:spPr>
          <a:xfrm>
            <a:off x="11181715" y="1136015"/>
            <a:ext cx="352425" cy="1125855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36D579"/>
          </a:solidFill>
        </p:spPr>
      </p:sp>
      <p:sp>
        <p:nvSpPr>
          <p:cNvPr id="18" name="Shape 16"/>
          <p:cNvSpPr/>
          <p:nvPr/>
        </p:nvSpPr>
        <p:spPr>
          <a:xfrm>
            <a:off x="6097270" y="4264025"/>
            <a:ext cx="6085205" cy="146050"/>
          </a:xfrm>
          <a:prstGeom prst="rect">
            <a:avLst/>
          </a:prstGeom>
          <a:solidFill>
            <a:srgbClr val="0D0D0D"/>
          </a:solidFill>
        </p:spPr>
      </p:sp>
      <p:pic>
        <p:nvPicPr>
          <p:cNvPr id="19" name="Image 0" descr="https://kimi-img.moonshot.cn/pub/slides/slides_tmpl/image/25-09-04-11:32:48-d2sggo61bb2p4onbom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50" y="5182870"/>
            <a:ext cx="3030220" cy="548005"/>
          </a:xfrm>
          <a:prstGeom prst="rect">
            <a:avLst/>
          </a:prstGeom>
        </p:spPr>
      </p:pic>
      <p:pic>
        <p:nvPicPr>
          <p:cNvPr id="20" name="Image 1" descr="https://kimi-img.moonshot.cn/pub/slides/slides_tmpl/image/25-09-04-11:32:48-d2sggo61bb2p4onbomsg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564890" y="1276350"/>
            <a:ext cx="5387340" cy="7010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 rot="10800000">
            <a:off x="0" y="3402330"/>
            <a:ext cx="1000125" cy="2232025"/>
          </a:xfrm>
          <a:custGeom>
            <a:avLst/>
            <a:gdLst/>
            <a:ahLst/>
            <a:cxnLst/>
            <a:rect l="l" t="t" r="r" b="b"/>
            <a:pathLst>
              <a:path w="1000125" h="2232025">
                <a:moveTo>
                  <a:pt x="5177" y="0"/>
                </a:moveTo>
                <a:lnTo>
                  <a:pt x="993913" y="0"/>
                </a:lnTo>
                <a:lnTo>
                  <a:pt x="1000125" y="2232025"/>
                </a:lnTo>
                <a:lnTo>
                  <a:pt x="0" y="2227036"/>
                </a:lnTo>
                <a:lnTo>
                  <a:pt x="5177" y="1607911"/>
                </a:lnTo>
                <a:lnTo>
                  <a:pt x="5177" y="0"/>
                </a:lnTo>
                <a:close/>
              </a:path>
            </a:pathLst>
          </a:custGeom>
          <a:solidFill>
            <a:srgbClr val="93FF73"/>
          </a:solid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470</Words>
  <Application>Microsoft Macintosh PowerPoint</Application>
  <PresentationFormat>宽屏</PresentationFormat>
  <Paragraphs>58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SimHei</vt:lpstr>
      <vt:lpstr>Noto Sans SC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视界伴音：视觉场景感知的上下文音乐推荐</dc:title>
  <dc:subject>视界伴音：视觉场景感知的上下文音乐推荐</dc:subject>
  <dc:creator>Kimi</dc:creator>
  <cp:lastModifiedBy>陈思琪</cp:lastModifiedBy>
  <cp:revision>8</cp:revision>
  <dcterms:created xsi:type="dcterms:W3CDTF">1900-01-01T00:00:00Z</dcterms:created>
  <dcterms:modified xsi:type="dcterms:W3CDTF">2026-04-18T12:14:30Z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视界伴音：视觉场景感知的上下文音乐推荐","ContentProducer":"001191110108MACG2KBH8F10000","ProduceID":"19d9e87b-a4b2-88a1-8000-0000150505f5","ReservedCode1":"","ContentPropagator":"001191110108MACG2KBH8F20000","PropagateID":"19d9e87b-a4b2-88a1-8000-0000150505f5","ReservedCode2":""}</vt:lpwstr>
  </property>
  <property fmtid="{D5CDD505-2E9C-101B-9397-08002B2CF9AE}" pid="3" name="ICV">
    <vt:lpwstr>4E4CEFC404078237CE6BE369FF9ED6E1_32</vt:lpwstr>
  </property>
  <property fmtid="{D5CDD505-2E9C-101B-9397-08002B2CF9AE}" pid="4" name="KSOProductBuildVer">
    <vt:lpwstr>2052-12.42.0</vt:lpwstr>
  </property>
</Properties>
</file>